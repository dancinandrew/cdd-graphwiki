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9e21ab295c464f" /><Relationship Type="http://schemas.openxmlformats.org/officeDocument/2006/relationships/extended-properties" Target="/docProps/app.xml" Id="Ra9f85b8a40af4cec" /><Relationship Type="http://schemas.openxmlformats.org/officeDocument/2006/relationships/officeDocument" Target="/ppt/presentation.xml" Id="R7c1e72678d7946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0b150fd0f14e78"/>
  </p:sldMasterIdLst>
  <p:notesMasterIdLst>
    <p:notesMasterId xmlns:r="http://schemas.openxmlformats.org/officeDocument/2006/relationships" r:id="R29e8d825ded04d30"/>
  </p:notesMasterIdLst>
  <p:sldIdLst>
    <p:sldId xmlns:r="http://schemas.openxmlformats.org/officeDocument/2006/relationships" id="256" r:id="R4ff4563bd6d34a6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0b150fd0f14e78" /><Relationship Type="http://schemas.openxmlformats.org/officeDocument/2006/relationships/theme" Target="/ppt/theme/theme1.xml" Id="R735e0c006f1641b0" /><Relationship Type="http://schemas.openxmlformats.org/officeDocument/2006/relationships/notesMaster" Target="/ppt/notesMasters/notesMaster1.xml" Id="R29e8d825ded04d30" /><Relationship Type="http://schemas.openxmlformats.org/officeDocument/2006/relationships/presProps" Target="/ppt/presProps.xml" Id="Rc18e1720c5734324" /><Relationship Type="http://schemas.openxmlformats.org/officeDocument/2006/relationships/viewProps" Target="/ppt/viewProps.xml" Id="R459b6801a967412d" /><Relationship Type="http://schemas.openxmlformats.org/officeDocument/2006/relationships/tableStyles" Target="/ppt/tableStyles.xml" Id="Rf44a157dce5d45ef" /><Relationship Type="http://schemas.openxmlformats.org/officeDocument/2006/relationships/slide" Target="/ppt/slides/slide1.xml" Id="R4ff4563bd6d34a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1188abb387647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9450d1412b4f94" /><Relationship Type="http://schemas.openxmlformats.org/officeDocument/2006/relationships/notesMaster" Target="/ppt/notesMasters/notesMaster1.xml" Id="R8e5359819e8447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ea115f1b0348f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e2c7dcbb7fb49cf" /><Relationship Type="http://schemas.openxmlformats.org/officeDocument/2006/relationships/slideLayout" Target="/ppt/slideLayouts/slideLayout2.xml" Id="R13e12d564b704d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e12d564b704d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36bdcf74fe4c11" /><Relationship Type="http://schemas.openxmlformats.org/officeDocument/2006/relationships/notesSlide" Target="/ppt/notesSlides/notesSlide1.xml" Id="R2a4a721ba767491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DE14CE-5720-44E0-A220-EF2927EC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23"/>
          </a:solidFill>
          <a:ln xmlns:a="http://schemas.openxmlformats.org/drawingml/2006/main" w="0">
            <a:solidFill>
              <a:srgbClr val="07132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F48B0-B6E6-4B1E-8ECB-606DEEB0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solidFill>
              <a:srgbClr val="06101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C5E74-E99D-4DBE-8D3D-401B6A18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3850"/>
            <a:ext cx="11544300" cy="621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92C"/>
          </a:solidFill>
          <a:ln xmlns:a="http://schemas.openxmlformats.org/drawingml/2006/main" w="13335">
            <a:solidFill>
              <a:srgbClr val="1E415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2293B-0CF3-4216-BE82-864E1784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3850"/>
            <a:ext cx="1154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5FF"/>
          </a:solidFill>
          <a:ln xmlns:a="http://schemas.openxmlformats.org/drawingml/2006/main" w="0">
            <a:solidFill>
              <a:srgbClr val="3DD5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84D4C-4A0B-47F1-9177-F4F7F99B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D5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3DD5FF"/>
                </a:solidFill>
                <a:latin typeface="Aptos Display"/>
                <a:ea typeface="Aptos Display"/>
                <a:cs typeface="Aptos Display"/>
              </a:rPr>
              <a:t>未來開發方向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836B2-806B-45FB-9F8F-432F552F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從 demo 原型走向 research-grade / production-grade CDD 合規平台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FDF25-6EBB-4219-9D78-49FBEC6D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AC3D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AC3D5"/>
                </a:solidFill>
                <a:latin typeface="Aptos"/>
                <a:ea typeface="Aptos"/>
                <a:cs typeface="Aptos"/>
              </a:rPr>
              <a:t>盤點依據：docs/papers_notes/ + docs/system-build-roadmap.md + 目前 repo 實作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AC523-E014-4561-A3AA-B87DA6A8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5300"/>
            <a:ext cx="2705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33C"/>
          </a:solidFill>
          <a:ln xmlns:a="http://schemas.openxmlformats.org/drawingml/2006/main" w="11430">
            <a:solidFill>
              <a:srgbClr val="3DD5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240BF-572B-46F4-A17F-E1737738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86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D5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DD5FF"/>
                </a:solidFill>
                <a:latin typeface="Aptos"/>
                <a:ea typeface="Aptos"/>
                <a:cs typeface="Aptos"/>
              </a:rPr>
              <a:t>目前狀態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70BCA-CE65-4DA8-9B51-F526D3E3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5725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核心 demo 已跑通；</a:t>
            </a:r>
          </a:p>
          <a:p xmlns:a="http://schemas.openxmlformats.org/drawingml/2006/main">
            <a:pPr algn="l">
              <a:defRPr sz="990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多數論文級能力仍是 prototype / small MVP。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4563B-8CB8-4ADC-856B-4991741F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28575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9525">
            <a:solidFill>
              <a:srgbClr val="28506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39ED0-7590-4976-972F-8B086FCD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2E6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2E6B8"/>
                </a:solidFill>
                <a:latin typeface="Aptos"/>
                <a:ea typeface="Aptos"/>
                <a:cs typeface="Aptos"/>
              </a:rPr>
              <a:t>已 built 的 demo chain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40B8F-BB05-465E-B11A-D22B2EC0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資料合約 / Parser</a:t>
            </a:r>
          </a:p>
          <a:p xmlns:a="http://schemas.openxmlformats.org/drawingml/2006/main">
            <a:pPr algn="l">
              <a:defRPr sz="112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義務抽取 / 知識圖譜</a:t>
            </a:r>
          </a:p>
          <a:p xmlns:a="http://schemas.openxmlformats.org/drawingml/2006/main">
            <a:pPr algn="l">
              <a:defRPr sz="112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衝突 prototype / CDD 推理</a:t>
            </a:r>
          </a:p>
          <a:p xmlns:a="http://schemas.openxmlformats.org/drawingml/2006/main">
            <a:pPr algn="l">
              <a:defRPr sz="112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HITL / hash-chain audit</a:t>
            </a:r>
          </a:p>
          <a:p xmlns:a="http://schemas.openxmlformats.org/drawingml/2006/main">
            <a:pPr algn="l">
              <a:defRPr sz="112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Dashboard / NIM fallback</a:t>
            </a:r>
          </a:p>
          <a:p xmlns:a="http://schemas.openxmlformats.org/drawingml/2006/main">
            <a:pPr algn="l">
              <a:defRPr sz="112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Evaluation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69FCE-E139-4308-8393-9CB315DA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224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5D"/>
          </a:solidFill>
          <a:ln xmlns:a="http://schemas.openxmlformats.org/drawingml/2006/main" w="0">
            <a:solidFill>
              <a:srgbClr val="24415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8FC59-7C4F-4FBB-845F-B1CE8CB4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C56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C56F"/>
                </a:solidFill>
                <a:latin typeface="Aptos"/>
                <a:ea typeface="Aptos"/>
                <a:cs typeface="Aptos"/>
              </a:rPr>
              <a:t>缺口判斷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AD696-5606-44C0-B537-93AA2E58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目前比較像可展示的 proof-of-concept。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下一步要補的是：</a:t>
            </a:r>
          </a:p>
          <a:p xmlns:a="http://schemas.openxmlformats.org/drawingml/2006/main">
            <a:pPr algn="l">
              <a:defRPr sz="1050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檢索品質、圖推理、衝突裁決與治理規模化。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FF08D-DB45-4FD2-8C41-2A7B4494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AC3D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AC3D5"/>
                </a:solidFill>
                <a:latin typeface="Aptos"/>
                <a:ea typeface="Aptos"/>
                <a:cs typeface="Aptos"/>
              </a:rPr>
              <a:t>保守說法：不是正式法律判斷自動化系統。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5B6C48-636B-4960-8C6A-F64B287F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36385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3"/>
          </a:solidFill>
          <a:ln xmlns:a="http://schemas.openxmlformats.org/drawingml/2006/main" w="13335">
            <a:solidFill>
              <a:srgbClr val="3DD5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1BFF83-CC10-4B3D-8457-B3C8A8E1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5FF"/>
          </a:solidFill>
          <a:ln xmlns:a="http://schemas.openxmlformats.org/drawingml/2006/main" w="0">
            <a:solidFill>
              <a:srgbClr val="3DD5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E951F0-852C-4353-9491-1AD3CBF1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7335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D5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DD5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2BAF1B-3AB5-462E-9852-78DDDB0B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145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8FB"/>
                </a:solidFill>
                <a:latin typeface="Aptos"/>
                <a:ea typeface="Aptos"/>
                <a:cs typeface="Aptos"/>
              </a:rPr>
              <a:t>Evidence-grade Retrieval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E9AAC5-A76C-49D2-85D6-55E0D68C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AAC3D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AAC3D5"/>
                </a:solidFill>
                <a:latin typeface="Aptos"/>
                <a:ea typeface="Aptos"/>
                <a:cs typeface="Aptos"/>
              </a:rPr>
              <a:t>LegalBench-RAG / Legal RAG Bench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E255BC-D21D-4796-85EA-907DF1C2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669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8A8A"/>
                </a:solidFill>
                <a:latin typeface="Aptos"/>
                <a:ea typeface="Aptos"/>
                <a:cs typeface="Aptos"/>
              </a:rPr>
              <a:t>缺口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AFC2FB-A9B3-4BDC-969A-08726727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4790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citation set 比對 + 模擬 baseline；尚未做到 minimal snippet retrieval。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09909C-88C6-47A9-910D-904DBA09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0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D5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DD5FF"/>
                </a:solidFill>
                <a:latin typeface="Aptos"/>
                <a:ea typeface="Aptos"/>
                <a:cs typeface="Aptos"/>
              </a:rPr>
              <a:t>下一步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7D7D51-85D0-43E1-B2A6-2A2223CF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hybrid BM25/dense/GraphRAG；character-span snippets；failure log。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A3ABC7-F748-4433-A4A1-AF499452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581150"/>
            <a:ext cx="36385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3"/>
          </a:solidFill>
          <a:ln xmlns:a="http://schemas.openxmlformats.org/drawingml/2006/main" w="13335">
            <a:solidFill>
              <a:srgbClr val="8FB4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1C4C2D-35DA-47AA-837E-39F6045F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58115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4FF"/>
          </a:solidFill>
          <a:ln xmlns:a="http://schemas.openxmlformats.org/drawingml/2006/main" w="0">
            <a:solidFill>
              <a:srgbClr val="8FB4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D50365-A8D6-4269-9449-FB55CE82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335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B4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FB4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D63CA5-F3B8-46FF-A66E-3B5B3025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8FB"/>
                </a:solidFill>
                <a:latin typeface="Aptos"/>
                <a:ea typeface="Aptos"/>
                <a:cs typeface="Aptos"/>
              </a:rPr>
              <a:t>True Graph Alignment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480006-B172-478A-A573-DBED2464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812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AAC3D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AAC3D5"/>
                </a:solidFill>
                <a:latin typeface="Aptos"/>
                <a:ea typeface="Aptos"/>
                <a:cs typeface="Aptos"/>
              </a:rPr>
              <a:t>GraphCompliance / AI Application in AML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4343E4-5FAE-4E77-8066-056CDCD4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669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8A8A"/>
                </a:solidFill>
                <a:latin typeface="Aptos"/>
                <a:ea typeface="Aptos"/>
                <a:cs typeface="Aptos"/>
              </a:rPr>
              <a:t>缺口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435D6B-AF19-4810-AB4E-33720036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4790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CDD Engine 是 deterministic branch logic；尚未一般化圖對齊。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567559-D396-43F3-8B6F-5232D1F4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0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B4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FB4FF"/>
                </a:solidFill>
                <a:latin typeface="Aptos"/>
                <a:ea typeface="Aptos"/>
                <a:cs typeface="Aptos"/>
              </a:rPr>
              <a:t>下一步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D6671F-90BF-42CD-9E8D-E37737DA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Context Graph；customer risk graph；UBO/PEP/sanction Cypher QA。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460991-F43E-457B-9F90-2C2855E1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29000"/>
            <a:ext cx="36385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3"/>
          </a:solidFill>
          <a:ln xmlns:a="http://schemas.openxmlformats.org/drawingml/2006/main" w="13335">
            <a:solidFill>
              <a:srgbClr val="F4C56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1C49F6-EEBB-41FC-9FB6-83093153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290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6F"/>
          </a:solidFill>
          <a:ln xmlns:a="http://schemas.openxmlformats.org/drawingml/2006/main" w="0">
            <a:solidFill>
              <a:srgbClr val="F4C56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D5CF2A-DF69-438A-B7F6-6F2B47F7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814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C56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C56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DBDA85-CE04-41CE-BD91-4B66BC9C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62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8FB"/>
                </a:solidFill>
                <a:latin typeface="Aptos"/>
                <a:ea typeface="Aptos"/>
                <a:cs typeface="Aptos"/>
              </a:rPr>
              <a:t>Conflict &amp; Gap Adjudication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143671-4753-428F-B208-03979ADC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290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AAC3D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AAC3D5"/>
                </a:solidFill>
                <a:latin typeface="Aptos"/>
                <a:ea typeface="Aptos"/>
                <a:cs typeface="Aptos"/>
              </a:rPr>
              <a:t>LegalWiz / ComplianceNLP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9B9985-441D-44BF-9CCF-5E2524E4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148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8A8A"/>
                </a:solidFill>
                <a:latin typeface="Aptos"/>
                <a:ea typeface="Aptos"/>
                <a:cs typeface="Aptos"/>
              </a:rPr>
              <a:t>缺口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E1B07C-DCE1-414C-9946-534C900E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Conflict detector 是規則 prototype；未做 NLI + LLM hybrid scoring。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27D4CA-48E8-4063-9127-98794EE0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529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C5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C56F"/>
                </a:solidFill>
                <a:latin typeface="Aptos"/>
                <a:ea typeface="Aptos"/>
                <a:cs typeface="Aptos"/>
              </a:rPr>
              <a:t>下一步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50D368-B0FC-4291-A14B-E942077F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339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6 類 conflict taxonomy；retrieval-verifiable/resistant；human adjudication。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CF214F-73F1-49DF-BC6E-B8733EF4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29000"/>
            <a:ext cx="36385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43"/>
          </a:solidFill>
          <a:ln xmlns:a="http://schemas.openxmlformats.org/drawingml/2006/main" w="13335">
            <a:solidFill>
              <a:srgbClr val="72E6B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830973-92FA-41BF-A3CA-C0DFD18C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29000"/>
            <a:ext cx="57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E6B8"/>
          </a:solidFill>
          <a:ln xmlns:a="http://schemas.openxmlformats.org/drawingml/2006/main" w="0">
            <a:solidFill>
              <a:srgbClr val="72E6B8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674A10-3AD2-4CCB-870B-AC7DDF84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814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2E6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2E6B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864D9B-BF88-462E-A72E-7BA73F56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62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8FB"/>
                </a:solidFill>
                <a:latin typeface="Aptos"/>
                <a:ea typeface="Aptos"/>
                <a:cs typeface="Aptos"/>
              </a:rPr>
              <a:t>Scale &amp; Governance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3F9344-21B2-4093-B9C8-A4889754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290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AAC3D5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AAC3D5"/>
                </a:solidFill>
                <a:latin typeface="Aptos"/>
                <a:ea typeface="Aptos"/>
                <a:cs typeface="Aptos"/>
              </a:rPr>
              <a:t>RAGulating Compliance / KG Rep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81D4A94-F151-4558-BF63-0D06180F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148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8A8A"/>
                </a:solidFill>
                <a:latin typeface="Aptos"/>
                <a:ea typeface="Aptos"/>
                <a:cs typeface="Aptos"/>
              </a:rPr>
              <a:t>缺口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B52928-EEA3-4519-85BF-FC673CE6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957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Corpus 偏 MVP；concept dedupe 主要靠 fallback alias。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79EE0D-56F2-48EA-A60D-D8D7AA58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529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E6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2E6B8"/>
                </a:solidFill>
                <a:latin typeface="Aptos"/>
                <a:ea typeface="Aptos"/>
                <a:cs typeface="Aptos"/>
              </a:rPr>
              <a:t>下一步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B69097-9B00-4C5C-87A7-27257A10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339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FATF/MAS/FCA/HKMA；SPO triplets；IAA gold labels；角色權限。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3A36CA-47BB-4DE9-BCF8-28FA21E2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391150"/>
            <a:ext cx="7600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3"/>
          </a:solidFill>
          <a:ln xmlns:a="http://schemas.openxmlformats.org/drawingml/2006/main" w="11430">
            <a:solidFill>
              <a:srgbClr val="F4C56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ACD6CD7-1A95-4A53-BB73-63F6CD81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5816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C56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C56F"/>
                </a:solidFill>
                <a:latin typeface="Aptos"/>
                <a:ea typeface="Aptos"/>
                <a:cs typeface="Aptos"/>
              </a:rPr>
              <a:t>優先順序建議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6E9C09-4A88-42AF-ACE8-F9653C36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4355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先做 retrieval + graph evaluation，因為法律 RAG 的天花板取決於檢索；</a:t>
            </a:r>
          </a:p>
          <a:p xmlns:a="http://schemas.openxmlformats.org/drawingml/2006/main">
            <a:pPr algn="l">
              <a:defRPr sz="1050" b="0">
                <a:solidFill>
                  <a:srgbClr val="F4F8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8FB"/>
                </a:solidFill>
                <a:latin typeface="Aptos"/>
                <a:ea typeface="Aptos"/>
                <a:cs typeface="Aptos"/>
              </a:rPr>
              <a:t>再補真正的圖對齊與人類裁決流程。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FF7749C-CC8B-4C6C-908A-A9FA0C17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AC3D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AC3D5"/>
                </a:solidFill>
                <a:latin typeface="Aptos"/>
                <a:ea typeface="Aptos"/>
                <a:cs typeface="Aptos"/>
              </a:rPr>
              <a:t>Sources: system-build-roadmap.md; papers_notes/index.md; backend/src/evaluation, association, graph, decision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20CAD4F-E74F-4F73-96B5-F8D267AC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15315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AAC3D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AC3D5"/>
                </a:solidFill>
                <a:latin typeface="Aptos"/>
                <a:ea typeface="Aptos"/>
                <a:cs typeface="Aptos"/>
              </a:rPr>
              <a:t>1 page</a:t>
            </a:r>
          </a:p>
        </p:txBody>
      </p:sp>
    </p:spTree>
    <p:extLst>
      <p:ext uri="{BB962C8B-B14F-4D97-AF65-F5344CB8AC3E}">
        <p14:creationId xmlns:p14="http://schemas.microsoft.com/office/powerpoint/2010/main" val="11182029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2026-06-01T15:46:58.1730000Z</dcterms:created>
  <dcterms:modified xsi:type="dcterms:W3CDTF">2026-06-01T15:46:58.1730000Z</dcterms:modified>
</coreProperties>
</file>